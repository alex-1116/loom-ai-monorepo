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927" autoAdjust="0"/>
  </p:normalViewPr>
  <p:slideViewPr>
    <p:cSldViewPr snapToGrid="0">
      <p:cViewPr varScale="1">
        <p:scale>
          <a:sx n="65" d="100"/>
          <a:sy n="65" d="100"/>
        </p:scale>
        <p:origin x="1330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今天的留学分享会。今天我将向大家介绍一所被誉为“俄罗斯留学性价比天花板”的名校——圣彼得堡国立交通大学。这不仅是一所百年名校，更是一个集“好读、好住、好毕业”于一体的理想留学目的地。让我们一起揭开它的神秘面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会探讨为什么圣彼得堡这座城市是留学的绝佳选择。接着，将深入介绍圣彼得堡国立交通大学的独特优势。然后，我们会展示我们提供的全程服务。最后，帮助大家判断这所学校是否适合自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看圣彼得堡这座城市。它被誉为“北方威尼斯”，是俄罗斯的文化艺术之都。想象一下，你的课余生活可以在冬宫欣赏达芬奇的画作，在夏宫的喷泉旁漫步，或者在白夜节的街头感受永不落幕的阳光。这不仅是留学，更是一场沉浸式的文化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丰富的文化生活，圣彼得堡在生活层面也极具吸引力。这里非常安全，生活成本比首都莫斯科低很多，让你用更少的钱享受更高质量的生活。同时，这里高校云集，学术氛围浓厚，还有成熟的华人圈，让你在异国他乡也能感受到家的温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了解了圣彼得堡的魅力，现在让我们聚焦于今天的主角——圣彼得堡国立交通大学。这所学校究竟有何过人之处，能成为留学俄罗斯的优选呢？接下来，我将为大家详细解读。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这是一所真正的百年名校。自1809年建校以来，它一直是俄罗斯交通领域的先驱。更重要的是，它的学历得到中国教育部的官方认可，这意味着你毕业后可以顺利回国发展，无论是考公务员、落户大城市，还是进入国企，这张文凭都是你的硬通货。超过98.5%的就业率更是其实力的最好证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谈到留学，大家最关心的就是费用。圣彼得堡国立交通大学的性价比绝对会让你心动。每年总花费仅需5-6万元人民币，这只是欧美留学费用的五分之一。低廉的学费和住宿费，让普通家庭也能轻松负担起留学梦想，真正实现“花小钱，办大事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零基础的同学来说，预科是必经之路。而圣彼得堡交大的预科项目堪称完美。学校把俄语预科中心直接设在了宿舍一楼，真正实现了“下楼即上课”。你每天可以节省大量通勤时间，更专注于学习。而且采用小班分级教学，即使你对俄语一无所知，也能在这里快速入门，为未来的专业学习打下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不想选择压力巨大的硬核工科，那么学校的管理学专业绝对是你的福音。这个专业不仅课程实用，而且考核方式非常友好，毕业率极高。这意味着你可以在轻松的氛围中完成学业，顺利拿到名校文凭。毕业后，无论是在国内还是在俄罗斯、中亚地区，都拥有广阔的就业前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校深知留学生的需求，提供了非常完善的服务。你将入住校内宿舍，2-3人一间，环境安全干净，暖气充足。学校还会协助你办理签证等各种手续，让你从入学到毕业全程无忧。在这里，你只需要专注于学习和生活，其他的事情都有专业的团队为你保驾护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了解了学校的优势，你可能会问，申请过程复杂吗？别担心，我们为你提供一站式的贴心服务，让你的留学之路畅通无阻。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服务覆盖了你留学的全过程。从前期的申请、签证，到抵达后的接机、入学，再到学习期间的辅导和毕业协助，我们都会全程陪伴。我们承诺，仅收取12800元的中介费，绝无任何隐形消费，让你明明白白留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听了这么多，你可能会想，这所学校真的适合我吗？接下来，我们就来看看，圣彼得堡国立交通大学究竟适合什么样的学生。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大家对号入座。如果你预算有限，但又渴望名校光环；如果你不想经历国内的激烈内卷，希望轻松毕业；如果你俄语零基础，但希望快速融入；如果你对管理、物流等专业感兴趣，并看好“一带一路”的就业前景，那么，圣彼得堡国立交通大学就是你的最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总结一下，选择圣彼得堡国立交通大学，就是选择了一条“花最少的钱，读最好的学校，走最顺的路”的留学捷径。这不仅是一次教育投资，更是一次改变人生轨迹的机遇。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机会总是留给有准备的人。目前招生名额有限，如果你心动了，就不要犹豫。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立即联系我们，开启你的俄罗斯名校之旅吧！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jpe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2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10.svg"/><Relationship Id="rId4" Type="http://schemas.openxmlformats.org/officeDocument/2006/relationships/image" Target="../media/image3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0" y="1717427"/>
            <a:ext cx="6303108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圣彼得堡国立交通大学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096000" y="2819399"/>
            <a:ext cx="601393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600" b="1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</a:rPr>
              <a:t>花最少的钱，读最好的学校，走最顺的路</a:t>
            </a:r>
            <a:endParaRPr lang="zh-CN" altLang="zh-CN" sz="2600" b="1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131174" y="4364892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好读 · 好住 · 好毕业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131174" y="5126892"/>
            <a:ext cx="1524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AAA14696-4EDD-5729-F862-84DC4E6E352F}"/>
              </a:ext>
            </a:extLst>
          </p:cNvPr>
          <p:cNvSpPr/>
          <p:nvPr/>
        </p:nvSpPr>
        <p:spPr>
          <a:xfrm>
            <a:off x="6060831" y="3391880"/>
            <a:ext cx="601393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</a:rPr>
              <a:t>俄罗斯留学性价比天花板</a:t>
            </a:r>
            <a:endParaRPr lang="zh-CN" altLang="zh-CN" sz="2400" b="1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 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77B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2032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为什么选择圣彼得堡？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667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北方威尼斯的独特魅力，充满机遇的留学与生活环境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8415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77B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0" y="2032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为什么选择交大？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874000" y="2667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圣彼得堡国立交通大学，传承百年的名校实力与专业优势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2545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77B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413000" y="4445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我们提供什么服务？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413000" y="5080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从申请规划到落地入学，为你提供全程无忧的留学护航方案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93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42545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77B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74000" y="4445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这适合什么样的你？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874000" y="5080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结合学科优势与个人规划，精准定位适合你的留学发展路径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/ 为什么选择圣彼得堡？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508000" cy="50800"/>
          </a:xfrm>
          <a:prstGeom prst="roundRect">
            <a:avLst>
              <a:gd name="adj" fmla="val 0"/>
            </a:avLst>
          </a:prstGeom>
          <a:solidFill>
            <a:srgbClr val="5A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俄罗斯“北方威尼斯”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圣彼得堡，这座涅瓦河畔的文化艺术之都，以其独特的魅力吸引着全世界的目光。这里不仅有世界级的艺术殿堂，还有闻名遐迩的白夜节，让你在极昼的梦幻中感受城市的无限活力。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080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508000" cy="50800"/>
          </a:xfrm>
          <a:prstGeom prst="roundRect">
            <a:avLst>
              <a:gd name="adj" fmla="val 0"/>
            </a:avLst>
          </a:prstGeom>
          <a:solidFill>
            <a:srgbClr val="5A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文化艺术之都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457200" cy="457200"/>
          </a:xfrm>
          <a:prstGeom prst="ellipse">
            <a:avLst/>
          </a:prstGeom>
          <a:solidFill>
            <a:srgbClr val="E8F4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45466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445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冬宫：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世界四大博物馆之一，收藏了达芬奇、伦勃朗等大师的稀世珍品。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457200" cy="457200"/>
          </a:xfrm>
          <a:prstGeom prst="ellipse">
            <a:avLst/>
          </a:prstGeom>
          <a:solidFill>
            <a:srgbClr val="E8F4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51816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080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夏宫：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拥有宏伟的阶梯瀑布和数百座金色喷泉，尽显皇家园林的奢华气派。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715000"/>
            <a:ext cx="457200" cy="457200"/>
          </a:xfrm>
          <a:prstGeom prst="ellipse">
            <a:avLst/>
          </a:prstGeom>
          <a:solidFill>
            <a:srgbClr val="E8F4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" y="58166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5715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白夜节：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夏季长达两个月的极昼现象，街头充满艺术表演，体验不夜城的魅力。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 l="18764" r="18764"/>
          <a:stretch>
            <a:fillRect/>
          </a:stretch>
        </p:blipFill>
        <p:spPr>
          <a:xfrm>
            <a:off x="6096000" y="1397000"/>
            <a:ext cx="5080000" cy="4318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/ 为什么选择圣彼得堡？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4473" r="14473"/>
          <a:stretch>
            <a:fillRect/>
          </a:stretch>
        </p:blipFill>
        <p:spPr>
          <a:xfrm>
            <a:off x="762000" y="1397000"/>
            <a:ext cx="4572000" cy="482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715000" y="1397000"/>
            <a:ext cx="27305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9000" y="1651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167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城市安全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969000" y="2286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俄罗斯最安全的城市之一，治安环境良好，为留学生提供了稳定、安心的学习生活氛围。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36000" y="1397000"/>
            <a:ext cx="27305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0" y="1651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525000" y="167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高性价比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0" y="2286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相比莫斯科，整体生活成本低20%-30%。用更少的预算，享受同等高质量的留学体验。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3937000"/>
            <a:ext cx="27305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9000" y="4191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04000" y="421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高校云集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69000" y="4826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拥有列宾美院、圣大等众多顶尖学府，学术氛围浓厚，是求知者深造的理想圣地。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36000" y="3937000"/>
            <a:ext cx="27305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0" y="4191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25000" y="421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华人圈成熟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0" y="4826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拥有成熟的华人社区与便利的生活支持体系，初到异国也能快速融入，无后顾之忧。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为什么选择圣彼得堡国立交通大学？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1270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优势一：百年名校，实力过硬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572000" cy="482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8715" r="18715"/>
          <a:stretch>
            <a:fillRect/>
          </a:stretch>
        </p:blipFill>
        <p:spPr>
          <a:xfrm>
            <a:off x="889000" y="1524000"/>
            <a:ext cx="4318000" cy="4572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588000" y="1397000"/>
            <a:ext cx="2921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1651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477000" y="1651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历史底蕴深厚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2286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始建于1809年，俄罗斯第一所高等交通院校，拥有超过200年的教育积淀与历史传承。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63000" y="1397000"/>
            <a:ext cx="2921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7000" y="1651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652000" y="1651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顶尖工科名校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17000" y="2286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前苏联及俄联邦核心工科院校，在交通运输、物流管理等领域享有极高的国际声誉。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3937000"/>
            <a:ext cx="2921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000" y="4191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477000" y="4191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学历权威认证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0" y="4826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学位受中国教育部正式认可，毕业可正常进行学历认证，考公、落户、进国企畅通无阻。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3937000"/>
            <a:ext cx="2921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0" y="4191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652000" y="4191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就业前景广阔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17000" y="4826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毕业生就业率超98.5%，在“一带一路”、中俄跨境物流及基建管理等领域人才供不应求。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优势二：性价比碾压欧美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用不到欧美留学 1/5 的费用，享受世界级的教育资源，让留学不再是奢侈品。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5000" y="2286000"/>
            <a:ext cx="1016000" cy="1016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556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DAA520"/>
                </a:solidFill>
                <a:latin typeface="Noto Sans SC"/>
                <a:ea typeface="Noto Sans SC"/>
                <a:cs typeface="Noto Sans SC"/>
                <a:sym typeface="Noto Sans SC"/>
              </a:rPr>
              <a:t>2 万+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 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本/硕学费标准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5080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远低于欧美国家每年数十万的高昂费用，大幅降低经济门槛。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2286000"/>
            <a:ext cx="1016000" cy="1016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3556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DAA520"/>
                </a:solidFill>
                <a:latin typeface="Noto Sans SC"/>
                <a:ea typeface="Noto Sans SC"/>
                <a:cs typeface="Noto Sans SC"/>
                <a:sym typeface="Noto Sans SC"/>
              </a:rPr>
              <a:t>80-250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元 / 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校内宿舍费用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826000" y="5080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约合3000-5500卢布，环境舒适，性价比极高，无额外租房压力。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00" y="2286000"/>
            <a:ext cx="1016000" cy="1016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82000" y="3556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DAA520"/>
                </a:solidFill>
                <a:latin typeface="Noto Sans SC"/>
                <a:ea typeface="Noto Sans SC"/>
                <a:cs typeface="Noto Sans SC"/>
                <a:sym typeface="Noto Sans SC"/>
              </a:rPr>
              <a:t>5-6 万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 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全流程总花费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509000" y="5080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费用涵盖学费、住宿费及日常生活费，普通家庭也能轻松负担。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优势三：预科住学一体，下楼即上课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572000" cy="482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0823" r="20823"/>
          <a:stretch>
            <a:fillRect/>
          </a:stretch>
        </p:blipFill>
        <p:spPr>
          <a:xfrm>
            <a:off x="1016000" y="1651000"/>
            <a:ext cx="4064000" cy="4318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588000" y="1397000"/>
            <a:ext cx="584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1651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31000" y="165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俄语国际预科中心就在宿舍一楼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0" y="2222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实现真正的“住学一体”模式，教室就在宿舍楼下。每天可多睡1小时，省去通勤的时间与金钱成本，让你的预科生活既轻松又高效。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3556000"/>
            <a:ext cx="584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3810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3810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专业教学体系，助力快速通关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731000" y="4445000"/>
            <a:ext cx="4445000" cy="457200"/>
          </a:xfrm>
          <a:prstGeom prst="roundRect">
            <a:avLst>
              <a:gd name="adj" fmla="val 2222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45466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4495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分级教学：按俄语水平精准分班，学习更具针对性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5016500"/>
            <a:ext cx="4445000" cy="457200"/>
          </a:xfrm>
          <a:prstGeom prst="roundRect">
            <a:avLst>
              <a:gd name="adj" fmla="val 2222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51181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5067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小班授课：严控班级人数，确保每位学生获充分关注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31000" y="5588000"/>
            <a:ext cx="4445000" cy="457200"/>
          </a:xfrm>
          <a:prstGeom prst="roundRect">
            <a:avLst>
              <a:gd name="adj" fmla="val 2222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0" y="56896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5638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零基础友好：专业老师全程指导，从零开始快速掌握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优势四：管理学专业，超好毕业，轻松拿证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762000" cy="762000"/>
          </a:xfrm>
          <a:prstGeom prst="ellipse">
            <a:avLst/>
          </a:prstGeom>
          <a:solidFill>
            <a:srgbClr val="EE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18415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526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经济管理系：强势热门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222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61F9"/>
                </a:solidFill>
                <a:latin typeface="Noto Sans SC"/>
                <a:ea typeface="Noto Sans SC"/>
                <a:cs typeface="Noto Sans SC"/>
                <a:sym typeface="Noto Sans SC"/>
              </a:rPr>
              <a:t>就业面广 · 紧跟市场刚需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作为学校的核心优势专业，课程设置紧贴市场需求，拒绝脱离实际的理论灌输。毕业后可广泛从事企业管理、物流调度、交通运营及国际贸易等领域工作。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4699000" cy="1143000"/>
          </a:xfrm>
          <a:prstGeom prst="roundRect">
            <a:avLst>
              <a:gd name="adj" fmla="val 1111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70000" y="4508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5961F9"/>
                </a:solidFill>
                <a:latin typeface="Noto Sans SC"/>
                <a:ea typeface="Noto Sans SC"/>
                <a:cs typeface="Noto Sans SC"/>
                <a:sym typeface="Noto Sans SC"/>
              </a:rPr>
              <a:t>地域就业优势显著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在中俄及中亚地区的跨国企业、外贸公司中认可度极高，职业发展路径清晰。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1651000"/>
            <a:ext cx="762000" cy="762000"/>
          </a:xfrm>
          <a:prstGeom prst="ellipse">
            <a:avLst/>
          </a:prstGeom>
          <a:solidFill>
            <a:srgbClr val="EE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1841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17526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考核友好：轻松毕业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93000" y="2222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61F9"/>
                </a:solidFill>
                <a:latin typeface="Noto Sans SC"/>
                <a:ea typeface="Noto Sans SC"/>
                <a:cs typeface="Noto Sans SC"/>
                <a:sym typeface="Noto Sans SC"/>
              </a:rPr>
              <a:t>高毕业率 · 拒绝“死记硬背”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921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31496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3048000"/>
            <a:ext cx="381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课程设置：注重实践能力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以案例分析和项目实操为主，摆脱枯燥的纯理论教学，学习过程更轻松。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7000" y="40005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42291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4127500"/>
            <a:ext cx="381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考核方式：人性化评估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综合考量平时表现与小组作业，减轻期末考试压力，让留学生活更从容。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477000" y="5080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53086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5207000"/>
            <a:ext cx="381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毕业保障：高通过率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无需死磕高难度的硬核工科知识，非常适合希望“轻松留学、顺利拿证”的学生。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优势五：留学生服务完善，全程无忧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572000" cy="4953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9474" r="19474"/>
          <a:stretch>
            <a:fillRect/>
          </a:stretch>
        </p:blipFill>
        <p:spPr>
          <a:xfrm>
            <a:off x="952500" y="1587500"/>
            <a:ext cx="4191000" cy="4572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588000" y="1397000"/>
            <a:ext cx="5842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842000" y="1651000"/>
            <a:ext cx="889000" cy="8890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1841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65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舒适的校内宿舍环境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0" y="215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居住空间：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标准2-3人间，宽敞明亮，设施齐全。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生活配套：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配备公共厨房与自习室，平衡生活与学业。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安全保障：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暖气供应充足，24小时安保巡逻。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88000" y="3937000"/>
            <a:ext cx="5842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842000" y="4191000"/>
            <a:ext cx="889000" cy="8890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4381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419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全流程入学支持体系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85000" y="469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入学简化：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国际生友好政策，大幅精简入学申请流程。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签证协助：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提供专业的签证指导与材料审核支持。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全程护航：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从初报到至毕业答辩，提供一站式关怀。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175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我们提供什么服务？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OUR SERVICES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全程无忧的留学护航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711200" cy="7112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18034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778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申请与入学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2997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2870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全程申请指导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从材料准备到网申提交，一站式服务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3886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74800" y="3759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签证高效办理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精准材料清单，确保顺利获签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72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47752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74800" y="4648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落地贴心服务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专人接机、宿舍入住与入学注册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699000" y="16510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400" y="18034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588000" y="1778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学习与生活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626">
            <a:off x="4699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699000" y="2794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400" y="29972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257800" y="2870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全阶段无缝对接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预科/本科/硕士/博士申请规划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699000" y="3683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400" y="38862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257800" y="3759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境外生活辅导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租房、就医、社交等全方位指导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699000" y="4572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400" y="47752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5257800" y="4648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学业与毕业协助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学习进度跟进，协助论文与毕业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28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7ED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382000" y="1651000"/>
            <a:ext cx="711200" cy="7112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0" y="18034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271000" y="1778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透明收费承诺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5626">
            <a:off x="8382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8382000" y="2921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400" b="1" i="0" u="none" strike="noStrike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8382000" y="3810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509000" y="393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一次性全额收费</a:t>
            </a:r>
            <a:b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拒绝任何隐形消费与加价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382000" y="5080000"/>
            <a:ext cx="2794000" cy="508000"/>
          </a:xfrm>
          <a:prstGeom prst="roundRect">
            <a:avLst>
              <a:gd name="adj" fmla="val 5000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8382000" y="508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官方认证 · 价格透明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这适合什么样的你？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WHO IS THIS PROGRAM FOR?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精准定位你的留学需求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你是这样的学生吗？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34575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350475"/>
            <a:ext cx="762000" cy="762000"/>
          </a:xfrm>
          <a:prstGeom prst="ellipse">
            <a:avLst/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540975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325075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预算有限，但想读名校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2706075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希望用最少的资金投入，获得世界名校的高含金量学历背书。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31575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3747475"/>
            <a:ext cx="762000" cy="762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3937975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032000" y="3722075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想轻松毕业，拒绝内卷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4103075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希望在相对宽松、人性化的学术环境中完成学业，顺利拿到文凭</a:t>
            </a: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236679" y="2126759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90679" y="2342659"/>
            <a:ext cx="762000" cy="762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1179" y="2533159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506679" y="2317259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零基础俄语，快速过渡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06679" y="2698259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无需语言基础，希望在专业预科指导下，高效掌握俄语并顺利入系</a:t>
            </a: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6223000" y="3531575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3747475"/>
            <a:ext cx="762000" cy="762000"/>
          </a:xfrm>
          <a:prstGeom prst="ellipse">
            <a:avLst/>
          </a:prstGeom>
          <a:solidFill>
            <a:srgbClr val="E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937975"/>
            <a:ext cx="381000" cy="381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3722075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看好“一带一路”就业市场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4103075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希望抓住中俄、中亚经贸合作机遇，拥有更广阔的国际化职业空间。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675925"/>
            <a:ext cx="10668000" cy="635000"/>
          </a:xfrm>
          <a:prstGeom prst="roundRect">
            <a:avLst>
              <a:gd name="adj" fmla="val 24000"/>
            </a:avLst>
          </a:prstGeom>
          <a:solidFill>
            <a:srgbClr val="333333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762000" y="567592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✅ 如果以上描述符合你的情况，圣彼得堡国立交通大学就是为你量身定制的最佳选择！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留学圣彼得堡交大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857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spc="200">
                <a:solidFill>
                  <a:srgbClr val="DAA52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 · CORE VALUES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735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3937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高性价比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花最少的钱，享受欧洲一流教育资源，留学成本极具竞争力。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556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873500"/>
            <a:ext cx="711200" cy="711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3937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顶尖名校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读最好的学校，俄罗斯交通领域最高学府，学位受全球广泛认可。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3556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38735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271000" y="3937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无忧规划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走最顺的路，提供一站式申请与留学服务，全程保驾护航无后顾之忧。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279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名额有限，速联咨询！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683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开启你的俄罗斯名校之旅</a:t>
            </a:r>
            <a:r>
              <a:rPr lang="en-US" sz="2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圆梦圣彼得堡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457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000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</a:rPr>
              <a:t>花最少的钱，读最好的学校，走最顺的路</a:t>
            </a:r>
            <a:endParaRPr lang="en-US" sz="2000" dirty="0">
              <a:solidFill>
                <a:srgbClr val="FFFFFF">
                  <a:alpha val="8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spc="200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宽屏</PresentationFormat>
  <Paragraphs>177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伟东 徐</cp:lastModifiedBy>
  <cp:revision>1</cp:revision>
  <dcterms:modified xsi:type="dcterms:W3CDTF">2026-04-23T09:07:41Z</dcterms:modified>
</cp:coreProperties>
</file>